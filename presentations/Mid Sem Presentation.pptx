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2" r:id="rId3"/>
    <p:sldId id="267" r:id="rId4"/>
    <p:sldId id="264" r:id="rId5"/>
    <p:sldId id="265" r:id="rId6"/>
    <p:sldId id="266" r:id="rId7"/>
    <p:sldId id="270" r:id="rId8"/>
    <p:sldId id="271" r:id="rId9"/>
    <p:sldId id="272" r:id="rId10"/>
    <p:sldId id="273" r:id="rId11"/>
    <p:sldId id="268" r:id="rId12"/>
    <p:sldId id="274" r:id="rId13"/>
    <p:sldId id="269" r:id="rId14"/>
    <p:sldId id="275" r:id="rId15"/>
    <p:sldId id="276" r:id="rId16"/>
    <p:sldId id="277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16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5C3456-9329-412A-BB11-F161A9DC2356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6125E-C9E4-48D6-B503-0BB3D7BFD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116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706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03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30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546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43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40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791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298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173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285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149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0EE7B5-4BE3-440D-B021-735B55380C5F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8FBC7-C836-4C88-BDDB-EBA63956EC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074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9FA32AD-79D3-46CE-082E-5E1B04F0B001}"/>
              </a:ext>
            </a:extLst>
          </p:cNvPr>
          <p:cNvSpPr txBox="1"/>
          <p:nvPr/>
        </p:nvSpPr>
        <p:spPr>
          <a:xfrm>
            <a:off x="648476" y="451576"/>
            <a:ext cx="7847045" cy="1191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solidFill>
                  <a:srgbClr val="0070C0"/>
                </a:solidFill>
                <a:ea typeface="MS Mincho" charset="-128"/>
                <a:cs typeface="Calibri" charset="0"/>
              </a:rPr>
              <a:t>ROAD DAMAGE DETECTION AND CRACK SEGMENTATION USING DEEP LEARNING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780ADC-37E4-6C76-3137-9680F3C67523}"/>
              </a:ext>
            </a:extLst>
          </p:cNvPr>
          <p:cNvSpPr txBox="1"/>
          <p:nvPr/>
        </p:nvSpPr>
        <p:spPr>
          <a:xfrm>
            <a:off x="2955222" y="1697599"/>
            <a:ext cx="3233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Submitted by</a:t>
            </a:r>
          </a:p>
          <a:p>
            <a:pPr algn="ctr"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Name: Aadeesh Ranjan</a:t>
            </a:r>
          </a:p>
          <a:p>
            <a:pPr algn="ctr"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ID: 240353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FA5BE0-DC06-B5D6-9B61-C471247D3A5E}"/>
              </a:ext>
            </a:extLst>
          </p:cNvPr>
          <p:cNvSpPr txBox="1"/>
          <p:nvPr/>
        </p:nvSpPr>
        <p:spPr>
          <a:xfrm>
            <a:off x="3453764" y="6234776"/>
            <a:ext cx="2236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cs typeface="Times New Roman" panose="02020603050405020304" pitchFamily="18" charset="0"/>
              </a:rPr>
              <a:t>July 2026</a:t>
            </a:r>
            <a:endParaRPr lang="en-IN" b="1" dirty="0"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4F958F-2CF6-363B-413C-518EB0ECBC11}"/>
              </a:ext>
            </a:extLst>
          </p:cNvPr>
          <p:cNvSpPr txBox="1"/>
          <p:nvPr/>
        </p:nvSpPr>
        <p:spPr>
          <a:xfrm>
            <a:off x="850792" y="3121238"/>
            <a:ext cx="2663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Faculty Mentor</a:t>
            </a:r>
          </a:p>
          <a:p>
            <a:pPr algn="just"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Dr. Shilpa Mahajan</a:t>
            </a:r>
          </a:p>
          <a:p>
            <a:pPr algn="just"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Assistant Professor</a:t>
            </a:r>
          </a:p>
          <a:p>
            <a:pPr algn="just"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SOET, BMU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588D0E-E1D9-6C59-6F74-5979E06FEF6C}"/>
              </a:ext>
            </a:extLst>
          </p:cNvPr>
          <p:cNvSpPr txBox="1"/>
          <p:nvPr/>
        </p:nvSpPr>
        <p:spPr>
          <a:xfrm>
            <a:off x="0" y="5144038"/>
            <a:ext cx="91440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70C0"/>
                </a:solidFill>
                <a:latin typeface="Calibri" charset="0"/>
                <a:ea typeface="Calibri" charset="0"/>
                <a:cs typeface="Calibri" charset="0"/>
              </a:rPr>
              <a:t>PRACTICE SCHOOL-II</a:t>
            </a:r>
          </a:p>
          <a:p>
            <a:pPr algn="ctr"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School of Engineering &amp; Technology, </a:t>
            </a:r>
          </a:p>
          <a:p>
            <a:pPr algn="ctr">
              <a:defRPr/>
            </a:pPr>
            <a:r>
              <a:rPr lang="en-US" sz="2000" i="1" dirty="0">
                <a:latin typeface="Calibri" charset="0"/>
                <a:ea typeface="Calibri" charset="0"/>
                <a:cs typeface="Calibri" charset="0"/>
              </a:rPr>
              <a:t>BML Munjal University, 67</a:t>
            </a:r>
            <a:r>
              <a:rPr lang="en-US" sz="2000" i="1" baseline="30000" dirty="0">
                <a:latin typeface="Calibri" charset="0"/>
                <a:ea typeface="Calibri" charset="0"/>
                <a:cs typeface="Calibri" charset="0"/>
              </a:rPr>
              <a:t>th</a:t>
            </a:r>
            <a:r>
              <a:rPr lang="en-US" sz="2000" i="1" dirty="0">
                <a:latin typeface="Calibri" charset="0"/>
                <a:ea typeface="Calibri" charset="0"/>
                <a:cs typeface="Calibri" charset="0"/>
              </a:rPr>
              <a:t> KM Stone, NH-8, Gurugram, Haryana 122413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3BACF-0500-4091-2CE8-BAD3933352D5}"/>
              </a:ext>
            </a:extLst>
          </p:cNvPr>
          <p:cNvSpPr txBox="1"/>
          <p:nvPr/>
        </p:nvSpPr>
        <p:spPr>
          <a:xfrm>
            <a:off x="6480067" y="3121237"/>
            <a:ext cx="26639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dirty="0">
                <a:latin typeface="Calibri" charset="0"/>
                <a:ea typeface="Calibri" charset="0"/>
                <a:cs typeface="Calibri" charset="0"/>
              </a:rPr>
              <a:t>Industry Mentor</a:t>
            </a:r>
          </a:p>
          <a:p>
            <a:pPr>
              <a:defRPr/>
            </a:pPr>
            <a:r>
              <a:rPr lang="en-IN" sz="2400" dirty="0">
                <a:latin typeface="Calibri" charset="0"/>
                <a:ea typeface="Calibri" charset="0"/>
                <a:cs typeface="Calibri" charset="0"/>
              </a:rPr>
              <a:t>Not Applicable (Academic Research Project)</a:t>
            </a:r>
            <a:endParaRPr lang="en-US" sz="2400" dirty="0"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D726281-2C7F-3C34-8AAB-F3622670C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204" y="2989315"/>
            <a:ext cx="1871591" cy="192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54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394-C950-4445-8FA7-859F29F6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1987"/>
            <a:ext cx="7886700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3600" b="1" dirty="0">
                <a:solidFill>
                  <a:srgbClr val="0070C0"/>
                </a:solidFill>
              </a:rPr>
              <a:t>OUTLINE OF THE 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B773B-A5E6-E2F7-C7E8-5B593C9F66D2}"/>
              </a:ext>
            </a:extLst>
          </p:cNvPr>
          <p:cNvSpPr txBox="1"/>
          <p:nvPr/>
        </p:nvSpPr>
        <p:spPr>
          <a:xfrm>
            <a:off x="1005901" y="980237"/>
            <a:ext cx="4572000" cy="564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dirty="0">
                <a:cs typeface="Times New Roman" panose="02020603050405020304" pitchFamily="18" charset="0"/>
              </a:rPr>
              <a:t>Project Overview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dirty="0">
                <a:cs typeface="Times New Roman" panose="02020603050405020304" pitchFamily="18" charset="0"/>
              </a:rPr>
              <a:t>Project Timeline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Times New Roman" panose="02020603050405020304" pitchFamily="18" charset="0"/>
              </a:rPr>
              <a:t>Introduction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Times New Roman" panose="02020603050405020304" pitchFamily="18" charset="0"/>
              </a:rPr>
              <a:t>Problem Statement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Times New Roman" panose="02020603050405020304" pitchFamily="18" charset="0"/>
              </a:rPr>
              <a:t>Objectives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dirty="0">
                <a:cs typeface="Times New Roman" panose="02020603050405020304" pitchFamily="18" charset="0"/>
              </a:rPr>
              <a:t>Methodology 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US" sz="1800" dirty="0">
                <a:cs typeface="Times New Roman" panose="02020603050405020304" pitchFamily="18" charset="0"/>
              </a:rPr>
              <a:t>Detection Experiments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dirty="0"/>
              <a:t>SAHI Evaluation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dirty="0"/>
              <a:t>Segmentation Experiments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dirty="0"/>
              <a:t>Recent Literature Comparison</a:t>
            </a:r>
          </a:p>
          <a:p>
            <a:pPr marL="628650" indent="536575" algn="just">
              <a:lnSpc>
                <a:spcPct val="150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IN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468266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394-C950-4445-8FA7-859F29F6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3600" b="1" dirty="0">
                <a:solidFill>
                  <a:srgbClr val="0070C0"/>
                </a:solidFill>
              </a:rPr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36B23-504E-BFA9-3398-B9D5280C79AE}"/>
              </a:ext>
            </a:extLst>
          </p:cNvPr>
          <p:cNvSpPr txBox="1"/>
          <p:nvPr/>
        </p:nvSpPr>
        <p:spPr>
          <a:xfrm>
            <a:off x="278606" y="1595198"/>
            <a:ext cx="85867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b="1" dirty="0"/>
              <a:t>About the Project</a:t>
            </a:r>
          </a:p>
          <a:p>
            <a:pPr lvl="0"/>
            <a:r>
              <a:rPr lang="en-IN" b="1" dirty="0"/>
              <a:t>Project Title</a:t>
            </a:r>
            <a:r>
              <a:rPr lang="en-IN" dirty="0"/>
              <a:t>: Road Damage Detection and Crack Segmentation using Deep Learning</a:t>
            </a:r>
          </a:p>
          <a:p>
            <a:pPr lvl="0"/>
            <a:r>
              <a:rPr lang="en-IN" b="1" dirty="0"/>
              <a:t>Project Type</a:t>
            </a:r>
            <a:r>
              <a:rPr lang="en-IN" dirty="0"/>
              <a:t>: Bachelor's Thesis / Practice School-II</a:t>
            </a:r>
          </a:p>
          <a:p>
            <a:pPr lvl="0"/>
            <a:r>
              <a:rPr lang="en-IN" b="1" dirty="0"/>
              <a:t>Research Area</a:t>
            </a:r>
            <a:r>
              <a:rPr lang="en-IN" dirty="0"/>
              <a:t>: Computer Vision and Deep Learning </a:t>
            </a:r>
          </a:p>
          <a:p>
            <a:pPr lvl="0"/>
            <a:r>
              <a:rPr lang="en-IN" b="1" dirty="0"/>
              <a:t>Datasets</a:t>
            </a:r>
            <a:r>
              <a:rPr lang="en-IN" dirty="0"/>
              <a:t>: RDD2022 and Crack500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AF842-C002-0838-AB11-6B4F544434E9}"/>
              </a:ext>
            </a:extLst>
          </p:cNvPr>
          <p:cNvSpPr txBox="1"/>
          <p:nvPr/>
        </p:nvSpPr>
        <p:spPr>
          <a:xfrm>
            <a:off x="278606" y="3391495"/>
            <a:ext cx="8586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b="1" dirty="0"/>
              <a:t>Research Scope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Object Detection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dirty="0"/>
              <a:t>SAHI Evaluation</a:t>
            </a:r>
          </a:p>
          <a:p>
            <a:pPr marL="285750" lvl="0" indent="-285750" algn="l">
              <a:buFont typeface="Arial" panose="020B0604020202020204" pitchFamily="34" charset="0"/>
              <a:buChar char="•"/>
            </a:pPr>
            <a:r>
              <a:rPr lang="en-IN" dirty="0"/>
              <a:t>Crack Segmentation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53F2A5-C0D2-1025-5219-DC3763430B92}"/>
              </a:ext>
            </a:extLst>
          </p:cNvPr>
          <p:cNvSpPr txBox="1"/>
          <p:nvPr/>
        </p:nvSpPr>
        <p:spPr>
          <a:xfrm>
            <a:off x="278606" y="4910793"/>
            <a:ext cx="85867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b="1" dirty="0"/>
              <a:t>Faculty Mentor Details</a:t>
            </a:r>
          </a:p>
          <a:p>
            <a:pPr lvl="0" algn="l"/>
            <a:r>
              <a:rPr lang="en-IN" dirty="0"/>
              <a:t>Name: Dr. Shilpa Mahajan</a:t>
            </a:r>
          </a:p>
          <a:p>
            <a:pPr lvl="0" algn="l"/>
            <a:r>
              <a:rPr lang="en-IN" dirty="0"/>
              <a:t>Department: SOET, BML Munjal University</a:t>
            </a:r>
          </a:p>
          <a:p>
            <a:pPr lvl="0" algn="l"/>
            <a:r>
              <a:rPr lang="en-IN" dirty="0"/>
              <a:t>Designation: Assistant Professor</a:t>
            </a:r>
          </a:p>
          <a:p>
            <a:pPr lvl="0" algn="l"/>
            <a:r>
              <a:rPr lang="en-IN" dirty="0"/>
              <a:t>Contact info: shilpa.mahajan@bmu.edu.in</a:t>
            </a:r>
          </a:p>
        </p:txBody>
      </p:sp>
    </p:spTree>
    <p:extLst>
      <p:ext uri="{BB962C8B-B14F-4D97-AF65-F5344CB8AC3E}">
        <p14:creationId xmlns:p14="http://schemas.microsoft.com/office/powerpoint/2010/main" val="4101807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394-C950-4445-8FA7-859F29F6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3600" b="1" dirty="0">
                <a:solidFill>
                  <a:srgbClr val="0070C0"/>
                </a:solidFill>
              </a:rPr>
              <a:t>PROJECT 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36B23-504E-BFA9-3398-B9D5280C79AE}"/>
              </a:ext>
            </a:extLst>
          </p:cNvPr>
          <p:cNvSpPr txBox="1"/>
          <p:nvPr/>
        </p:nvSpPr>
        <p:spPr>
          <a:xfrm>
            <a:off x="278606" y="1595198"/>
            <a:ext cx="8586788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en-IN" b="1" dirty="0"/>
              <a:t>Start date: 1</a:t>
            </a:r>
            <a:r>
              <a:rPr lang="en-IN" b="1" baseline="30000" dirty="0"/>
              <a:t>st</a:t>
            </a:r>
            <a:r>
              <a:rPr lang="en-IN" b="1" dirty="0"/>
              <a:t> June, 2026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Project Milestones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Phase 1: Literature review and problem understanding completed.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Phase 2: Dataset preparation and exploratory data analysis completed.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Phase 3: YOLOv8 and YOLO11 object detection experiments completed.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Phase 4: SAHI evaluation and YOLO11m ablation study completed.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Phase 5: Faster R-CNN implementation and exploratory SAHI evaluation completed.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Phase 6: Crack segmentation using U-Net and DeepLabV3+ completed.</a:t>
            </a:r>
          </a:p>
          <a:p>
            <a:pPr>
              <a:lnSpc>
                <a:spcPct val="150000"/>
              </a:lnSpc>
            </a:pPr>
            <a:r>
              <a:rPr lang="en-IN" dirty="0"/>
              <a:t>Phase 7: Comparison with recent literature and result analysis completed.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Phase 8: Documentation, thesis writing and presentation preparation in progress.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End date: 26</a:t>
            </a:r>
            <a:r>
              <a:rPr lang="en-IN" b="1" baseline="30000" dirty="0"/>
              <a:t>th</a:t>
            </a:r>
            <a:r>
              <a:rPr lang="en-IN" b="1" dirty="0"/>
              <a:t> July, 2026</a:t>
            </a:r>
          </a:p>
        </p:txBody>
      </p:sp>
    </p:spTree>
    <p:extLst>
      <p:ext uri="{BB962C8B-B14F-4D97-AF65-F5344CB8AC3E}">
        <p14:creationId xmlns:p14="http://schemas.microsoft.com/office/powerpoint/2010/main" val="239118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394-C950-4445-8FA7-859F29F6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0927"/>
            <a:ext cx="7886700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3600" b="1" dirty="0">
                <a:solidFill>
                  <a:srgbClr val="0070C0"/>
                </a:solidFill>
              </a:rPr>
              <a:t>PROBLEM IDENTIFICATION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36B23-504E-BFA9-3398-B9D5280C79AE}"/>
              </a:ext>
            </a:extLst>
          </p:cNvPr>
          <p:cNvSpPr txBox="1"/>
          <p:nvPr/>
        </p:nvSpPr>
        <p:spPr>
          <a:xfrm>
            <a:off x="278606" y="907429"/>
            <a:ext cx="8586788" cy="586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b="1" dirty="0"/>
              <a:t>Statement: </a:t>
            </a:r>
            <a:r>
              <a:rPr lang="en-IN" dirty="0"/>
              <a:t>Road surface defects such as cracks and potholes reduce driving safety and increase road maintenance costs. Manual inspection is slow, expensive, and often inconsistent. An automated computer vision-based system can provide faster and more reliable road damage assessment.</a:t>
            </a:r>
          </a:p>
          <a:p>
            <a:pPr lvl="0">
              <a:lnSpc>
                <a:spcPct val="150000"/>
              </a:lnSpc>
            </a:pPr>
            <a:r>
              <a:rPr lang="en-IN" b="1" dirty="0"/>
              <a:t>Objectives: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Evaluate multiple deep learning models for road damage detection.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Study the impact of SAHI on small-object detection.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Compare U-Net and DeepLabV3+ for crack segmentation.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Benchmark the proposed models against recent literature.</a:t>
            </a: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Methodology: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Road Damage Detection using </a:t>
            </a:r>
            <a:r>
              <a:rPr lang="en-IN" b="1" dirty="0"/>
              <a:t>YOLOv8, YOLO11 and Faster R-CNN</a:t>
            </a:r>
            <a:r>
              <a:rPr lang="en-I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SAHI-based sliced inference evaluation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Crack Segmentation using </a:t>
            </a:r>
            <a:r>
              <a:rPr lang="en-IN" b="1" dirty="0"/>
              <a:t>U-Net and DeepLabV3+</a:t>
            </a:r>
            <a:r>
              <a:rPr lang="en-IN" dirty="0"/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Performance evaluation using </a:t>
            </a:r>
            <a:r>
              <a:rPr lang="en-IN" b="1" dirty="0"/>
              <a:t>Precision, Recall, </a:t>
            </a:r>
            <a:r>
              <a:rPr lang="en-IN" b="1" dirty="0" err="1"/>
              <a:t>mAP</a:t>
            </a:r>
            <a:r>
              <a:rPr lang="en-IN" b="1" dirty="0"/>
              <a:t>, Dice Score and </a:t>
            </a:r>
            <a:r>
              <a:rPr lang="en-IN" b="1" dirty="0" err="1"/>
              <a:t>IoU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60103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394-C950-4445-8FA7-859F29F6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METHODOLOGY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F28E320-769A-0F8A-0B1A-23ED2024A786}"/>
              </a:ext>
            </a:extLst>
          </p:cNvPr>
          <p:cNvSpPr/>
          <p:nvPr/>
        </p:nvSpPr>
        <p:spPr>
          <a:xfrm>
            <a:off x="3491634" y="1219929"/>
            <a:ext cx="2160733" cy="39704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Benchmark Datasets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2EE089-2B98-0AA3-4531-08F951F46DF8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1630279" y="1417959"/>
            <a:ext cx="1861355" cy="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72BDFC-635E-2C57-319B-BEB35F0BE185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5652367" y="1417959"/>
            <a:ext cx="1861354" cy="4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290F49E-9DDD-3DE1-648E-D46705738C36}"/>
              </a:ext>
            </a:extLst>
          </p:cNvPr>
          <p:cNvCxnSpPr>
            <a:cxnSpLocks/>
          </p:cNvCxnSpPr>
          <p:nvPr/>
        </p:nvCxnSpPr>
        <p:spPr>
          <a:xfrm>
            <a:off x="1630279" y="1417959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541A1B-080C-6B8B-697C-AC3AF1EA4A32}"/>
              </a:ext>
            </a:extLst>
          </p:cNvPr>
          <p:cNvCxnSpPr>
            <a:cxnSpLocks/>
          </p:cNvCxnSpPr>
          <p:nvPr/>
        </p:nvCxnSpPr>
        <p:spPr>
          <a:xfrm>
            <a:off x="7513721" y="1417959"/>
            <a:ext cx="0" cy="483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D64D35-C17D-FD15-8CBC-9D6AADFDF488}"/>
              </a:ext>
            </a:extLst>
          </p:cNvPr>
          <p:cNvSpPr/>
          <p:nvPr/>
        </p:nvSpPr>
        <p:spPr>
          <a:xfrm>
            <a:off x="662350" y="1878023"/>
            <a:ext cx="1935855" cy="397042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RDD 2022 Dataset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50B631-F44C-6694-794C-3FEBD097C12E}"/>
              </a:ext>
            </a:extLst>
          </p:cNvPr>
          <p:cNvSpPr/>
          <p:nvPr/>
        </p:nvSpPr>
        <p:spPr>
          <a:xfrm>
            <a:off x="6545794" y="1900989"/>
            <a:ext cx="1935854" cy="397042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Crack500 Dataset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C3A086-3EA7-993A-9875-4E15C1BC51B7}"/>
              </a:ext>
            </a:extLst>
          </p:cNvPr>
          <p:cNvCxnSpPr>
            <a:cxnSpLocks/>
          </p:cNvCxnSpPr>
          <p:nvPr/>
        </p:nvCxnSpPr>
        <p:spPr>
          <a:xfrm>
            <a:off x="1630279" y="2275065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DA552B9-E36C-3843-81C2-D2C11942852F}"/>
              </a:ext>
            </a:extLst>
          </p:cNvPr>
          <p:cNvSpPr/>
          <p:nvPr/>
        </p:nvSpPr>
        <p:spPr>
          <a:xfrm>
            <a:off x="321303" y="2732265"/>
            <a:ext cx="2617948" cy="921554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Object Detection</a:t>
            </a:r>
            <a:br>
              <a:rPr lang="en-IN" dirty="0"/>
            </a:br>
            <a:r>
              <a:rPr lang="en-IN" dirty="0"/>
              <a:t>YOLOv8 • YOLO11 • Faster R-CNN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2936D7-89FB-9031-1CE1-9440ABA268BC}"/>
              </a:ext>
            </a:extLst>
          </p:cNvPr>
          <p:cNvCxnSpPr>
            <a:cxnSpLocks/>
          </p:cNvCxnSpPr>
          <p:nvPr/>
        </p:nvCxnSpPr>
        <p:spPr>
          <a:xfrm>
            <a:off x="1630277" y="3653819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8F15D1-87F0-947B-BD29-1074601E5257}"/>
              </a:ext>
            </a:extLst>
          </p:cNvPr>
          <p:cNvSpPr/>
          <p:nvPr/>
        </p:nvSpPr>
        <p:spPr>
          <a:xfrm>
            <a:off x="491828" y="4111019"/>
            <a:ext cx="2276898" cy="397042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SAHI Based Inference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12293CA-8378-8E8C-14E1-D1E02095EE62}"/>
              </a:ext>
            </a:extLst>
          </p:cNvPr>
          <p:cNvSpPr/>
          <p:nvPr/>
        </p:nvSpPr>
        <p:spPr>
          <a:xfrm>
            <a:off x="6281161" y="2755230"/>
            <a:ext cx="2465120" cy="898587"/>
          </a:xfrm>
          <a:prstGeom prst="roundRect">
            <a:avLst/>
          </a:prstGeom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Crack Segmentation</a:t>
            </a:r>
            <a:br>
              <a:rPr lang="en-IN" dirty="0"/>
            </a:br>
            <a:r>
              <a:rPr lang="en-IN" dirty="0"/>
              <a:t>U-Net • DeepLabV3+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B341606-C13C-E3BF-996E-D790F7C5A1E6}"/>
              </a:ext>
            </a:extLst>
          </p:cNvPr>
          <p:cNvCxnSpPr>
            <a:cxnSpLocks/>
          </p:cNvCxnSpPr>
          <p:nvPr/>
        </p:nvCxnSpPr>
        <p:spPr>
          <a:xfrm>
            <a:off x="7513721" y="2298031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078E1E-12DA-4939-620F-2A2B100B2492}"/>
              </a:ext>
            </a:extLst>
          </p:cNvPr>
          <p:cNvCxnSpPr>
            <a:cxnSpLocks/>
          </p:cNvCxnSpPr>
          <p:nvPr/>
        </p:nvCxnSpPr>
        <p:spPr>
          <a:xfrm>
            <a:off x="7513721" y="3653817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1B48E8E-73F0-EBAB-FF22-5AA0043ACCD6}"/>
              </a:ext>
            </a:extLst>
          </p:cNvPr>
          <p:cNvSpPr/>
          <p:nvPr/>
        </p:nvSpPr>
        <p:spPr>
          <a:xfrm>
            <a:off x="6225540" y="4133238"/>
            <a:ext cx="2570433" cy="397042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Segmentation Inference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1CB076D-AE4A-4C71-3CF7-AD895212E6F3}"/>
              </a:ext>
            </a:extLst>
          </p:cNvPr>
          <p:cNvCxnSpPr>
            <a:stCxn id="23" idx="2"/>
          </p:cNvCxnSpPr>
          <p:nvPr/>
        </p:nvCxnSpPr>
        <p:spPr>
          <a:xfrm>
            <a:off x="1630277" y="4508061"/>
            <a:ext cx="0" cy="2544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05EBA0-1902-0E75-9E0F-F58279B63F96}"/>
              </a:ext>
            </a:extLst>
          </p:cNvPr>
          <p:cNvCxnSpPr/>
          <p:nvPr/>
        </p:nvCxnSpPr>
        <p:spPr>
          <a:xfrm>
            <a:off x="7513721" y="4530280"/>
            <a:ext cx="0" cy="2544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B6C3D4-70A8-88D8-406C-D67FD4AD90C1}"/>
              </a:ext>
            </a:extLst>
          </p:cNvPr>
          <p:cNvCxnSpPr>
            <a:cxnSpLocks/>
          </p:cNvCxnSpPr>
          <p:nvPr/>
        </p:nvCxnSpPr>
        <p:spPr>
          <a:xfrm flipH="1" flipV="1">
            <a:off x="1630279" y="4762500"/>
            <a:ext cx="5883442" cy="222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07FDBE6-8745-FB22-F9BD-3BF4B1EC2530}"/>
              </a:ext>
            </a:extLst>
          </p:cNvPr>
          <p:cNvCxnSpPr>
            <a:cxnSpLocks/>
          </p:cNvCxnSpPr>
          <p:nvPr/>
        </p:nvCxnSpPr>
        <p:spPr>
          <a:xfrm>
            <a:off x="4572000" y="4784719"/>
            <a:ext cx="0" cy="296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BB11C81-8C93-EF45-2944-115D44F957E0}"/>
              </a:ext>
            </a:extLst>
          </p:cNvPr>
          <p:cNvSpPr/>
          <p:nvPr/>
        </p:nvSpPr>
        <p:spPr>
          <a:xfrm>
            <a:off x="1824445" y="5081885"/>
            <a:ext cx="5495107" cy="64322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Performance Evaluation </a:t>
            </a:r>
          </a:p>
          <a:p>
            <a:pPr algn="ctr"/>
            <a:r>
              <a:rPr lang="en-IN" dirty="0"/>
              <a:t>Precision • Recall • mAP@50 • mAP@50-95 • Dice • </a:t>
            </a:r>
            <a:r>
              <a:rPr lang="en-IN" dirty="0" err="1"/>
              <a:t>IoU</a:t>
            </a:r>
            <a:endParaRPr lang="en-IN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CC5DC31-8AF3-EC3B-2586-52464B782D00}"/>
              </a:ext>
            </a:extLst>
          </p:cNvPr>
          <p:cNvCxnSpPr>
            <a:cxnSpLocks/>
          </p:cNvCxnSpPr>
          <p:nvPr/>
        </p:nvCxnSpPr>
        <p:spPr>
          <a:xfrm>
            <a:off x="4572000" y="5744934"/>
            <a:ext cx="0" cy="296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BA12805-465C-978A-AE1D-FAF7AA7FF3F6}"/>
              </a:ext>
            </a:extLst>
          </p:cNvPr>
          <p:cNvSpPr/>
          <p:nvPr/>
        </p:nvSpPr>
        <p:spPr>
          <a:xfrm>
            <a:off x="2768726" y="6061300"/>
            <a:ext cx="3607408" cy="397042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Comparison with Recent Literature</a:t>
            </a:r>
          </a:p>
        </p:txBody>
      </p:sp>
    </p:spTree>
    <p:extLst>
      <p:ext uri="{BB962C8B-B14F-4D97-AF65-F5344CB8AC3E}">
        <p14:creationId xmlns:p14="http://schemas.microsoft.com/office/powerpoint/2010/main" val="3342676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221D-D0B8-E398-CE7A-A0AA201E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1450-DF0E-71E4-D181-6FFB0335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DETECTION EXPERIMENTS 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DAD6B8BE-891A-10BE-68C8-1A12193D54B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94911922"/>
              </p:ext>
            </p:extLst>
          </p:nvPr>
        </p:nvGraphicFramePr>
        <p:xfrm>
          <a:off x="328512" y="1810416"/>
          <a:ext cx="4111140" cy="4361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380">
                  <a:extLst>
                    <a:ext uri="{9D8B030D-6E8A-4147-A177-3AD203B41FA5}">
                      <a16:colId xmlns:a16="http://schemas.microsoft.com/office/drawing/2014/main" val="1947137014"/>
                    </a:ext>
                  </a:extLst>
                </a:gridCol>
                <a:gridCol w="1370380">
                  <a:extLst>
                    <a:ext uri="{9D8B030D-6E8A-4147-A177-3AD203B41FA5}">
                      <a16:colId xmlns:a16="http://schemas.microsoft.com/office/drawing/2014/main" val="2751508455"/>
                    </a:ext>
                  </a:extLst>
                </a:gridCol>
                <a:gridCol w="1370380">
                  <a:extLst>
                    <a:ext uri="{9D8B030D-6E8A-4147-A177-3AD203B41FA5}">
                      <a16:colId xmlns:a16="http://schemas.microsoft.com/office/drawing/2014/main" val="3401107265"/>
                    </a:ext>
                  </a:extLst>
                </a:gridCol>
              </a:tblGrid>
              <a:tr h="65810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mAP@50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mAP@50-95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294846"/>
                  </a:ext>
                </a:extLst>
              </a:tr>
              <a:tr h="507595">
                <a:tc>
                  <a:txBody>
                    <a:bodyPr/>
                    <a:lstStyle/>
                    <a:p>
                      <a:r>
                        <a:rPr lang="en-IN" dirty="0"/>
                        <a:t>YOLOv8n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098646"/>
                  </a:ext>
                </a:extLst>
              </a:tr>
              <a:tr h="507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121809"/>
                  </a:ext>
                </a:extLst>
              </a:tr>
              <a:tr h="507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YOLOv8m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0.344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023009"/>
                  </a:ext>
                </a:extLst>
              </a:tr>
              <a:tr h="507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YOLOv11n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457210"/>
                  </a:ext>
                </a:extLst>
              </a:tr>
              <a:tr h="507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YOLOv11s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783120"/>
                  </a:ext>
                </a:extLst>
              </a:tr>
              <a:tr h="507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0.314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482966"/>
                  </a:ext>
                </a:extLst>
              </a:tr>
              <a:tr h="658106">
                <a:tc>
                  <a:txBody>
                    <a:bodyPr/>
                    <a:lstStyle/>
                    <a:p>
                      <a:r>
                        <a:rPr lang="en-IN" dirty="0"/>
                        <a:t>Faster R-CNN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616421"/>
                  </a:ext>
                </a:extLst>
              </a:tr>
            </a:tbl>
          </a:graphicData>
        </a:graphic>
      </p:graphicFrame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54540A3-CE94-2DA0-42BA-FE2E38AAEE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810414"/>
            <a:ext cx="4395533" cy="43617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AADF9E-1F69-D509-7EB0-FE20883F158C}"/>
              </a:ext>
            </a:extLst>
          </p:cNvPr>
          <p:cNvSpPr txBox="1"/>
          <p:nvPr/>
        </p:nvSpPr>
        <p:spPr>
          <a:xfrm>
            <a:off x="4572000" y="6172198"/>
            <a:ext cx="45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Representative YOLOv8m predictions on the RDD2022 dataset.</a:t>
            </a:r>
            <a:endParaRPr lang="en-IN" sz="16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89F598-C57E-78C0-D690-DC5DA7114788}"/>
              </a:ext>
            </a:extLst>
          </p:cNvPr>
          <p:cNvSpPr txBox="1"/>
          <p:nvPr/>
        </p:nvSpPr>
        <p:spPr>
          <a:xfrm>
            <a:off x="120141" y="6185097"/>
            <a:ext cx="452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i="1" dirty="0"/>
              <a:t>Baseline performance comparison of all evaluated detection models.</a:t>
            </a:r>
          </a:p>
        </p:txBody>
      </p:sp>
    </p:spTree>
    <p:extLst>
      <p:ext uri="{BB962C8B-B14F-4D97-AF65-F5344CB8AC3E}">
        <p14:creationId xmlns:p14="http://schemas.microsoft.com/office/powerpoint/2010/main" val="62693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44E43-0676-D312-387F-2CE4E376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E354-474C-C3D4-654D-E2147050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7990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SAHI EVALUATION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EDFC374-B005-ABD6-CD62-DD8CF3A05A6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73470136"/>
              </p:ext>
            </p:extLst>
          </p:nvPr>
        </p:nvGraphicFramePr>
        <p:xfrm>
          <a:off x="167949" y="1212980"/>
          <a:ext cx="4693300" cy="351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325">
                  <a:extLst>
                    <a:ext uri="{9D8B030D-6E8A-4147-A177-3AD203B41FA5}">
                      <a16:colId xmlns:a16="http://schemas.microsoft.com/office/drawing/2014/main" val="2634034750"/>
                    </a:ext>
                  </a:extLst>
                </a:gridCol>
                <a:gridCol w="1173325">
                  <a:extLst>
                    <a:ext uri="{9D8B030D-6E8A-4147-A177-3AD203B41FA5}">
                      <a16:colId xmlns:a16="http://schemas.microsoft.com/office/drawing/2014/main" val="1812433062"/>
                    </a:ext>
                  </a:extLst>
                </a:gridCol>
                <a:gridCol w="1173325">
                  <a:extLst>
                    <a:ext uri="{9D8B030D-6E8A-4147-A177-3AD203B41FA5}">
                      <a16:colId xmlns:a16="http://schemas.microsoft.com/office/drawing/2014/main" val="2602832514"/>
                    </a:ext>
                  </a:extLst>
                </a:gridCol>
                <a:gridCol w="1173325">
                  <a:extLst>
                    <a:ext uri="{9D8B030D-6E8A-4147-A177-3AD203B41FA5}">
                      <a16:colId xmlns:a16="http://schemas.microsoft.com/office/drawing/2014/main" val="2953423883"/>
                    </a:ext>
                  </a:extLst>
                </a:gridCol>
              </a:tblGrid>
              <a:tr h="70384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Baseline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SAHI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Detection Increase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516267"/>
                  </a:ext>
                </a:extLst>
              </a:tr>
              <a:tr h="434241">
                <a:tc>
                  <a:txBody>
                    <a:bodyPr/>
                    <a:lstStyle/>
                    <a:p>
                      <a:r>
                        <a:rPr lang="en-IN" dirty="0"/>
                        <a:t>YOLOv8n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3773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20.96%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787964"/>
                  </a:ext>
                </a:extLst>
              </a:tr>
              <a:tr h="4342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29.22%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670077"/>
                  </a:ext>
                </a:extLst>
              </a:tr>
              <a:tr h="4342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16.92%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698127"/>
                  </a:ext>
                </a:extLst>
              </a:tr>
              <a:tr h="4342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YOLOv11n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3612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24.47%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396892"/>
                  </a:ext>
                </a:extLst>
              </a:tr>
              <a:tr h="4342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YOLOv11s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/>
                        <a:t>20.17%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872862"/>
                  </a:ext>
                </a:extLst>
              </a:tr>
              <a:tr h="5866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YOLOv11m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18.46%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044291"/>
                  </a:ext>
                </a:extLst>
              </a:tr>
            </a:tbl>
          </a:graphicData>
        </a:graphic>
      </p:graphicFrame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5B11C5C1-D1FB-1A0D-C902-5FE27FFDE3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850" y="1180322"/>
            <a:ext cx="3886200" cy="23463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5200F9F-A8CF-1923-1AE0-E292C9678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850" y="4159387"/>
            <a:ext cx="3886200" cy="2491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2D3BA45-95AC-B03E-17AB-B2F3F68346ED}"/>
              </a:ext>
            </a:extLst>
          </p:cNvPr>
          <p:cNvSpPr txBox="1"/>
          <p:nvPr/>
        </p:nvSpPr>
        <p:spPr>
          <a:xfrm>
            <a:off x="167949" y="4896061"/>
            <a:ext cx="4693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SAHI increased detections for every YOLO model.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YOLOv8s showed the largest improvement (</a:t>
            </a:r>
            <a:r>
              <a:rPr lang="en-IN" b="1" dirty="0"/>
              <a:t>29.22%</a:t>
            </a:r>
            <a:r>
              <a:rPr lang="en-IN" dirty="0"/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increase in detections was accompanied by additional false positives.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007501-8A90-76E3-1F2E-0B2268C96ED6}"/>
              </a:ext>
            </a:extLst>
          </p:cNvPr>
          <p:cNvSpPr txBox="1"/>
          <p:nvPr/>
        </p:nvSpPr>
        <p:spPr>
          <a:xfrm>
            <a:off x="5131838" y="3681464"/>
            <a:ext cx="380222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i="1" dirty="0"/>
              <a:t>Baseline YOLO vs. YOLO + SAHI Predictions</a:t>
            </a:r>
          </a:p>
        </p:txBody>
      </p:sp>
    </p:spTree>
    <p:extLst>
      <p:ext uri="{BB962C8B-B14F-4D97-AF65-F5344CB8AC3E}">
        <p14:creationId xmlns:p14="http://schemas.microsoft.com/office/powerpoint/2010/main" val="192990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C7036-6EF9-323A-3B00-6CE74A98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402C-76F6-5A61-111C-D4BCEA9C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79" y="173297"/>
            <a:ext cx="8222841" cy="132556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EXPLORATORY STUDY: FASTER R-CNN + SAHI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638E14-771B-8D10-4C5B-DE7FD6B03DB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21969405"/>
              </p:ext>
            </p:extLst>
          </p:nvPr>
        </p:nvGraphicFramePr>
        <p:xfrm>
          <a:off x="102635" y="1616044"/>
          <a:ext cx="462798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6996">
                  <a:extLst>
                    <a:ext uri="{9D8B030D-6E8A-4147-A177-3AD203B41FA5}">
                      <a16:colId xmlns:a16="http://schemas.microsoft.com/office/drawing/2014/main" val="1250369124"/>
                    </a:ext>
                  </a:extLst>
                </a:gridCol>
                <a:gridCol w="1156996">
                  <a:extLst>
                    <a:ext uri="{9D8B030D-6E8A-4147-A177-3AD203B41FA5}">
                      <a16:colId xmlns:a16="http://schemas.microsoft.com/office/drawing/2014/main" val="1529734819"/>
                    </a:ext>
                  </a:extLst>
                </a:gridCol>
                <a:gridCol w="1156996">
                  <a:extLst>
                    <a:ext uri="{9D8B030D-6E8A-4147-A177-3AD203B41FA5}">
                      <a16:colId xmlns:a16="http://schemas.microsoft.com/office/drawing/2014/main" val="172217592"/>
                    </a:ext>
                  </a:extLst>
                </a:gridCol>
                <a:gridCol w="1156996">
                  <a:extLst>
                    <a:ext uri="{9D8B030D-6E8A-4147-A177-3AD203B41FA5}">
                      <a16:colId xmlns:a16="http://schemas.microsoft.com/office/drawing/2014/main" val="1175814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Baseline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SAHI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Detection Increase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737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Faster R-CNN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63.15%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49534"/>
                  </a:ext>
                </a:extLst>
              </a:tr>
            </a:tbl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610166F-D876-261F-0B35-7ECCD429D6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66383708"/>
              </p:ext>
            </p:extLst>
          </p:nvPr>
        </p:nvGraphicFramePr>
        <p:xfrm>
          <a:off x="102635" y="3201890"/>
          <a:ext cx="46279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3992">
                  <a:extLst>
                    <a:ext uri="{9D8B030D-6E8A-4147-A177-3AD203B41FA5}">
                      <a16:colId xmlns:a16="http://schemas.microsoft.com/office/drawing/2014/main" val="3345948848"/>
                    </a:ext>
                  </a:extLst>
                </a:gridCol>
                <a:gridCol w="2313992">
                  <a:extLst>
                    <a:ext uri="{9D8B030D-6E8A-4147-A177-3AD203B41FA5}">
                      <a16:colId xmlns:a16="http://schemas.microsoft.com/office/drawing/2014/main" val="38939652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30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30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487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mAP@50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210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mAP@50-95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27601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00273CC-31FB-347D-2394-A16215EDD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955" y="1196218"/>
            <a:ext cx="2722789" cy="24491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D191F4-AE44-E3DB-1598-1DF6F842C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55" y="4236097"/>
            <a:ext cx="2906141" cy="25871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0A7BAE1-F44C-ECD4-D3DA-BEECBDB2193F}"/>
              </a:ext>
            </a:extLst>
          </p:cNvPr>
          <p:cNvSpPr txBox="1"/>
          <p:nvPr/>
        </p:nvSpPr>
        <p:spPr>
          <a:xfrm>
            <a:off x="5673012" y="3676260"/>
            <a:ext cx="3368353" cy="559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i="1" dirty="0"/>
              <a:t>Example showing additional detections after applying SAHI.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6877E3-1DB7-6928-4851-FC995285BAD6}"/>
              </a:ext>
            </a:extLst>
          </p:cNvPr>
          <p:cNvSpPr txBox="1"/>
          <p:nvPr/>
        </p:nvSpPr>
        <p:spPr>
          <a:xfrm>
            <a:off x="102635" y="5290457"/>
            <a:ext cx="56885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SAHI increased detections by </a:t>
            </a:r>
            <a:r>
              <a:rPr lang="en-IN" b="1" dirty="0"/>
              <a:t>63.15%</a:t>
            </a:r>
            <a:r>
              <a:rPr lang="en-IN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Many of the additional detections were false positives and duplicate boxes.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Therefore, Faster R-CNN + SAHI was treated as an </a:t>
            </a:r>
            <a:r>
              <a:rPr lang="en-IN" b="1" dirty="0"/>
              <a:t>exploratory study</a:t>
            </a:r>
            <a:r>
              <a:rPr lang="en-IN" dirty="0"/>
              <a:t> rather than the final approach.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245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137A-396A-85C2-9936-CA4DDEC3F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3FD66-364C-E9B4-07F7-38800E6F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SEGMENTATION EXPERIMENTS 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DD18C8E5-2CB4-30C7-8EEF-96323EC31A3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79259752"/>
              </p:ext>
            </p:extLst>
          </p:nvPr>
        </p:nvGraphicFramePr>
        <p:xfrm>
          <a:off x="328512" y="1810416"/>
          <a:ext cx="4111140" cy="1673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380">
                  <a:extLst>
                    <a:ext uri="{9D8B030D-6E8A-4147-A177-3AD203B41FA5}">
                      <a16:colId xmlns:a16="http://schemas.microsoft.com/office/drawing/2014/main" val="1947137014"/>
                    </a:ext>
                  </a:extLst>
                </a:gridCol>
                <a:gridCol w="1370380">
                  <a:extLst>
                    <a:ext uri="{9D8B030D-6E8A-4147-A177-3AD203B41FA5}">
                      <a16:colId xmlns:a16="http://schemas.microsoft.com/office/drawing/2014/main" val="2751508455"/>
                    </a:ext>
                  </a:extLst>
                </a:gridCol>
                <a:gridCol w="1370380">
                  <a:extLst>
                    <a:ext uri="{9D8B030D-6E8A-4147-A177-3AD203B41FA5}">
                      <a16:colId xmlns:a16="http://schemas.microsoft.com/office/drawing/2014/main" val="3401107265"/>
                    </a:ext>
                  </a:extLst>
                </a:gridCol>
              </a:tblGrid>
              <a:tr h="65810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Dice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IoU</a:t>
                      </a:r>
                      <a:r>
                        <a:rPr lang="en-IN" dirty="0"/>
                        <a:t>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4294846"/>
                  </a:ext>
                </a:extLst>
              </a:tr>
              <a:tr h="507595">
                <a:tc>
                  <a:txBody>
                    <a:bodyPr/>
                    <a:lstStyle/>
                    <a:p>
                      <a:r>
                        <a:rPr lang="en-IN" b="1" dirty="0"/>
                        <a:t>U-Net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0.7533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0.6118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0098646"/>
                  </a:ext>
                </a:extLst>
              </a:tr>
              <a:tr h="5075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DeepLabV3+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0.7389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0.5931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12180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DE7A1E9-512E-A2E6-A935-AD6ADAEFCC4C}"/>
              </a:ext>
            </a:extLst>
          </p:cNvPr>
          <p:cNvSpPr txBox="1"/>
          <p:nvPr/>
        </p:nvSpPr>
        <p:spPr>
          <a:xfrm>
            <a:off x="4517796" y="3981702"/>
            <a:ext cx="452788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i="1" dirty="0"/>
              <a:t>Segmentation results on a Crack500 sample image.</a:t>
            </a:r>
            <a:endParaRPr lang="en-IN" sz="1500" i="1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86DA96E-4FE0-B133-EFC3-8E8D9C8DEA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29150" y="1690689"/>
            <a:ext cx="4186338" cy="21661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9AD702-1AE7-3103-D3F8-635EAB7BB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4446448"/>
            <a:ext cx="4186338" cy="21661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8051F5-3290-71A3-FB27-CC494CF5CA10}"/>
              </a:ext>
            </a:extLst>
          </p:cNvPr>
          <p:cNvSpPr txBox="1"/>
          <p:nvPr/>
        </p:nvSpPr>
        <p:spPr>
          <a:xfrm>
            <a:off x="98323" y="3981702"/>
            <a:ext cx="44736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U-Net achieved the highest Dice Score (</a:t>
            </a:r>
            <a:r>
              <a:rPr lang="en-IN" b="1" dirty="0"/>
              <a:t>0.7533</a:t>
            </a:r>
            <a:r>
              <a:rPr lang="en-IN" dirty="0"/>
              <a:t>) and </a:t>
            </a:r>
            <a:r>
              <a:rPr lang="en-IN" dirty="0" err="1"/>
              <a:t>IoU</a:t>
            </a:r>
            <a:r>
              <a:rPr lang="en-IN" dirty="0"/>
              <a:t> (</a:t>
            </a:r>
            <a:r>
              <a:rPr lang="en-IN" b="1" dirty="0"/>
              <a:t>0.6118</a:t>
            </a:r>
            <a:r>
              <a:rPr lang="en-IN" dirty="0"/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Both models successfully segmented the primary crack regions..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U-Net preserved thin crack structures better and was selected as the final segmentation model.</a:t>
            </a:r>
          </a:p>
        </p:txBody>
      </p:sp>
    </p:spTree>
    <p:extLst>
      <p:ext uri="{BB962C8B-B14F-4D97-AF65-F5344CB8AC3E}">
        <p14:creationId xmlns:p14="http://schemas.microsoft.com/office/powerpoint/2010/main" val="2394185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394-C950-4445-8FA7-859F29F6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DETECTION LITERATURE COMPARISON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4234E24-6D5D-1153-C13C-297009DDD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218852"/>
              </p:ext>
            </p:extLst>
          </p:nvPr>
        </p:nvGraphicFramePr>
        <p:xfrm>
          <a:off x="235975" y="1229852"/>
          <a:ext cx="867205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410">
                  <a:extLst>
                    <a:ext uri="{9D8B030D-6E8A-4147-A177-3AD203B41FA5}">
                      <a16:colId xmlns:a16="http://schemas.microsoft.com/office/drawing/2014/main" val="522683228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786829793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496946311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1388764040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668934592"/>
                    </a:ext>
                  </a:extLst>
                </a:gridCol>
              </a:tblGrid>
              <a:tr h="35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mAP@50-95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324772"/>
                  </a:ext>
                </a:extLst>
              </a:tr>
              <a:tr h="35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RDD-YOLO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RDD2022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36.4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211550"/>
                  </a:ext>
                </a:extLst>
              </a:tr>
              <a:tr h="613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Improved YOLOv8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RDD2022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65.7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96110"/>
                  </a:ext>
                </a:extLst>
              </a:tr>
              <a:tr h="35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YOLOv8-PD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RDD2022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70.6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39.5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353006"/>
                  </a:ext>
                </a:extLst>
              </a:tr>
              <a:tr h="35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YOLO-RD*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Japan Subset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25.75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538930"/>
                  </a:ext>
                </a:extLst>
              </a:tr>
              <a:tr h="35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OBC-YOLOv8†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China Subset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86.0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692357"/>
                  </a:ext>
                </a:extLst>
              </a:tr>
              <a:tr h="35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SEA-YOLOv8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RDD2022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63.2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387356"/>
                  </a:ext>
                </a:extLst>
              </a:tr>
              <a:tr h="355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YOLOv8m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2026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RDD2022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63.3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34.4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5092091"/>
                  </a:ext>
                </a:extLst>
              </a:tr>
              <a:tr h="6136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YOLOv8m + SAHI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2026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RDD2022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48.4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24.7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70330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D7E0FB-559F-B82B-9CFD-278ABC3EF6EE}"/>
              </a:ext>
            </a:extLst>
          </p:cNvPr>
          <p:cNvSpPr txBox="1"/>
          <p:nvPr/>
        </p:nvSpPr>
        <p:spPr>
          <a:xfrm>
            <a:off x="235974" y="5070332"/>
            <a:ext cx="867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YOLO-RD was evaluated on the Japan subset of RDD2022. OBC-YOLOv8 was evaluated on the China subset. Some papers report only mAP@50, so mAP@50-95 is unavailable.</a:t>
            </a:r>
            <a:r>
              <a:rPr lang="en-IN" sz="12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DA7F2-258F-FB38-D209-AFC040100D19}"/>
              </a:ext>
            </a:extLst>
          </p:cNvPr>
          <p:cNvSpPr txBox="1"/>
          <p:nvPr/>
        </p:nvSpPr>
        <p:spPr>
          <a:xfrm>
            <a:off x="235975" y="5628148"/>
            <a:ext cx="8475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Observation:</a:t>
            </a:r>
            <a:r>
              <a:rPr lang="en-IN" dirty="0"/>
              <a:t> YOLOv8m achieved competitive performance on the RDD2022 benchmark despite using a standard training pipeline without architectural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67918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691C0-C70A-21C4-7AD6-0CEC95C4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BFB41-A659-7FB2-DBEF-D6F3C892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12" y="358247"/>
            <a:ext cx="8279375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SEGMENTATION LITERATURE COMPARISON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DCA393-5F86-39B6-1AB9-6C42127C5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039123"/>
              </p:ext>
            </p:extLst>
          </p:nvPr>
        </p:nvGraphicFramePr>
        <p:xfrm>
          <a:off x="235975" y="1229853"/>
          <a:ext cx="8672050" cy="4002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410">
                  <a:extLst>
                    <a:ext uri="{9D8B030D-6E8A-4147-A177-3AD203B41FA5}">
                      <a16:colId xmlns:a16="http://schemas.microsoft.com/office/drawing/2014/main" val="522683228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786829793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496946311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1388764040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668934592"/>
                    </a:ext>
                  </a:extLst>
                </a:gridCol>
              </a:tblGrid>
              <a:tr h="37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Dice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IoU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324772"/>
                  </a:ext>
                </a:extLst>
              </a:tr>
              <a:tr h="838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Pyramid Attention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Crack500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76.81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62.35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211550"/>
                  </a:ext>
                </a:extLst>
              </a:tr>
              <a:tr h="661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Dual Flow Fusion Model*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Crack500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78.10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66.00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96110"/>
                  </a:ext>
                </a:extLst>
              </a:tr>
              <a:tr h="838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Distribution-aware Noisy-label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Crack500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74.74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60.56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353006"/>
                  </a:ext>
                </a:extLst>
              </a:tr>
              <a:tr h="37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EGA-UNet†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Crack500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77.80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70.00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538930"/>
                  </a:ext>
                </a:extLst>
              </a:tr>
              <a:tr h="37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U-Net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2026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Crack500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75.33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61.18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692357"/>
                  </a:ext>
                </a:extLst>
              </a:tr>
              <a:tr h="37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DeepLabV3+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2026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Crack500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73.89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59.31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38735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57DDE5-72DC-F685-23C1-1F311AF9A9F6}"/>
              </a:ext>
            </a:extLst>
          </p:cNvPr>
          <p:cNvSpPr txBox="1"/>
          <p:nvPr/>
        </p:nvSpPr>
        <p:spPr>
          <a:xfrm>
            <a:off x="235975" y="5232043"/>
            <a:ext cx="8672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i="1" dirty="0"/>
              <a:t>The Dual Flow Fusion paper reports F1-score, which is equivalent to the Dice coefficient for binary segmentation. EGA-</a:t>
            </a:r>
            <a:r>
              <a:rPr lang="en-IN" sz="1200" i="1" dirty="0" err="1"/>
              <a:t>UNet</a:t>
            </a:r>
            <a:r>
              <a:rPr lang="en-IN" sz="1200" i="1" dirty="0"/>
              <a:t> reports foreground </a:t>
            </a:r>
            <a:r>
              <a:rPr lang="en-IN" sz="1200" i="1" dirty="0" err="1"/>
              <a:t>IoU</a:t>
            </a:r>
            <a:r>
              <a:rPr lang="en-IN" sz="1200" i="1" dirty="0"/>
              <a:t>, which is directly comparable to the </a:t>
            </a:r>
            <a:r>
              <a:rPr lang="en-IN" sz="1200" i="1" dirty="0" err="1"/>
              <a:t>IoU</a:t>
            </a:r>
            <a:r>
              <a:rPr lang="en-IN" sz="1200" i="1" dirty="0"/>
              <a:t> used in this work.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4670CF-7C14-8BB3-CFD9-EC83246452ED}"/>
              </a:ext>
            </a:extLst>
          </p:cNvPr>
          <p:cNvSpPr txBox="1"/>
          <p:nvPr/>
        </p:nvSpPr>
        <p:spPr>
          <a:xfrm>
            <a:off x="235975" y="5716638"/>
            <a:ext cx="8475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Observation:</a:t>
            </a:r>
            <a:r>
              <a:rPr lang="en-IN" dirty="0"/>
              <a:t> U-Net achieved competitive performance on the Crack500 dataset and outperformed DeepLabV3+ in both Dice Score and </a:t>
            </a:r>
            <a:r>
              <a:rPr lang="en-IN" dirty="0" err="1"/>
              <a:t>IoU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755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394-C950-4445-8FA7-859F29F61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26DD4-C9F0-130A-1D17-B8D74BD4AA37}"/>
              </a:ext>
            </a:extLst>
          </p:cNvPr>
          <p:cNvSpPr txBox="1"/>
          <p:nvPr/>
        </p:nvSpPr>
        <p:spPr>
          <a:xfrm>
            <a:off x="353961" y="1602658"/>
            <a:ext cx="837708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Evaluated seven object detection models on the RDD2022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YOLOv8m achieved the best overall detection performance with 63.3% mAP@50 and 34.4% mAP@50-95.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SAHI increased the number of detected road damages for all YOLO models, with a maximum improvement of 29.22%.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Faster R-CNN + SAHI study showed a 63.15% increase in detections but also introduced many false positives.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U-Net achieved the best crack segmentation performance with a Dice Score of 75.33% and an </a:t>
            </a:r>
            <a:r>
              <a:rPr lang="en-US" dirty="0" err="1"/>
              <a:t>IoU</a:t>
            </a:r>
            <a:r>
              <a:rPr lang="en-US" dirty="0"/>
              <a:t> of 61.18%.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Comparison with recent literature showed that the proposed models achieved competitive performance on benchmark datasets.</a:t>
            </a:r>
          </a:p>
        </p:txBody>
      </p:sp>
    </p:spTree>
    <p:extLst>
      <p:ext uri="{BB962C8B-B14F-4D97-AF65-F5344CB8AC3E}">
        <p14:creationId xmlns:p14="http://schemas.microsoft.com/office/powerpoint/2010/main" val="3299925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50439-6058-1F68-E1B5-F90A66D2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1E863-2E12-5F79-CE5A-F1750A178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LEARNING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0FE0D-E40D-856C-2020-00B1C6540110}"/>
              </a:ext>
            </a:extLst>
          </p:cNvPr>
          <p:cNvSpPr txBox="1"/>
          <p:nvPr/>
        </p:nvSpPr>
        <p:spPr>
          <a:xfrm>
            <a:off x="506054" y="1421137"/>
            <a:ext cx="813189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Technical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Gained hands-on experience with object detection and semantic segmentation.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Compared one-stage (YOLO) and two-stage (Faster R-CNN) detection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Evaluated the impact of SAHI on small-object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Performed model evaluation using Precision, Recall, </a:t>
            </a:r>
            <a:r>
              <a:rPr lang="en-US" dirty="0" err="1"/>
              <a:t>mAP</a:t>
            </a:r>
            <a:r>
              <a:rPr lang="en-US" dirty="0"/>
              <a:t>, Dice Score, and </a:t>
            </a:r>
            <a:r>
              <a:rPr lang="en-US" dirty="0" err="1"/>
              <a:t>IoU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/>
              <a:t>Research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Conducted a comprehensive literature review.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Designed and compared multiple deep learning experiments.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Analyzed experimental results and benchmarked them against published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technical writing and presentation of research findings.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510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E37B1-36C0-3861-F9C2-DC4794D47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0E36-54AF-3FB3-06C8-61F1557CC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8146"/>
            <a:ext cx="7886700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F52A6-8F99-96FE-FB71-49999B5D6E9E}"/>
              </a:ext>
            </a:extLst>
          </p:cNvPr>
          <p:cNvSpPr txBox="1"/>
          <p:nvPr/>
        </p:nvSpPr>
        <p:spPr>
          <a:xfrm>
            <a:off x="278606" y="1253989"/>
            <a:ext cx="858678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87F9AF-7B09-3C31-3511-3C70E648F260}"/>
              </a:ext>
            </a:extLst>
          </p:cNvPr>
          <p:cNvSpPr txBox="1"/>
          <p:nvPr/>
        </p:nvSpPr>
        <p:spPr>
          <a:xfrm>
            <a:off x="278606" y="879372"/>
            <a:ext cx="8586788" cy="580158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Arya, D., </a:t>
            </a:r>
            <a:r>
              <a:rPr lang="en-IN" i="1" dirty="0"/>
              <a:t>et al.</a:t>
            </a:r>
            <a:r>
              <a:rPr lang="en-IN" dirty="0"/>
              <a:t>, </a:t>
            </a:r>
            <a:r>
              <a:rPr lang="en-IN" b="1" dirty="0"/>
              <a:t>RDD2022: A Multi-national Image Dataset for Automatic Road Damage Detection</a:t>
            </a:r>
            <a:r>
              <a:rPr lang="en-IN" dirty="0"/>
              <a:t>, </a:t>
            </a:r>
            <a:r>
              <a:rPr lang="en-IN" i="1" dirty="0"/>
              <a:t>Scientific Data</a:t>
            </a:r>
            <a:r>
              <a:rPr lang="en-IN" dirty="0"/>
              <a:t>, 2022.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Akyon</a:t>
            </a:r>
            <a:r>
              <a:rPr lang="en-IN" dirty="0"/>
              <a:t>, F. C., </a:t>
            </a:r>
            <a:r>
              <a:rPr lang="en-IN" dirty="0" err="1"/>
              <a:t>Altinuc</a:t>
            </a:r>
            <a:r>
              <a:rPr lang="en-IN" dirty="0"/>
              <a:t>, S. O., and </a:t>
            </a:r>
            <a:r>
              <a:rPr lang="en-IN" dirty="0" err="1"/>
              <a:t>Temizel</a:t>
            </a:r>
            <a:r>
              <a:rPr lang="en-IN" dirty="0"/>
              <a:t>, A., </a:t>
            </a:r>
            <a:r>
              <a:rPr lang="en-IN" b="1" dirty="0"/>
              <a:t>Slicing Aided Hyper Inference and Fine-Tuning for Small Object Detection (SAHI)</a:t>
            </a:r>
            <a:r>
              <a:rPr lang="en-IN" dirty="0"/>
              <a:t>, </a:t>
            </a:r>
            <a:r>
              <a:rPr lang="en-IN" i="1" dirty="0"/>
              <a:t>ICIP</a:t>
            </a:r>
            <a:r>
              <a:rPr lang="en-IN" dirty="0"/>
              <a:t>, 2022.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Wang, C.-Y., </a:t>
            </a:r>
            <a:r>
              <a:rPr lang="en-IN" dirty="0" err="1"/>
              <a:t>Bochkovskiy</a:t>
            </a:r>
            <a:r>
              <a:rPr lang="en-IN" dirty="0"/>
              <a:t>, A., and Liao, H.-Y. M., </a:t>
            </a:r>
            <a:r>
              <a:rPr lang="en-IN" b="1" dirty="0"/>
              <a:t>YOLOv7: Trainable Bag-of-Freebies Sets New State-of-the-Art for Real-Time Object Detectors</a:t>
            </a:r>
            <a:r>
              <a:rPr lang="en-IN" dirty="0"/>
              <a:t>, 2022.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Ren, S., He, K., </a:t>
            </a:r>
            <a:r>
              <a:rPr lang="en-IN" dirty="0" err="1"/>
              <a:t>Girshick</a:t>
            </a:r>
            <a:r>
              <a:rPr lang="en-IN" dirty="0"/>
              <a:t>, R., and Sun, J., </a:t>
            </a:r>
            <a:r>
              <a:rPr lang="en-IN" b="1" dirty="0"/>
              <a:t>Faster R-CNN: Towards Real-Time Object Detection with Region Proposal Networks</a:t>
            </a:r>
            <a:r>
              <a:rPr lang="en-IN" dirty="0"/>
              <a:t>, </a:t>
            </a:r>
            <a:r>
              <a:rPr lang="en-IN" i="1" dirty="0" err="1"/>
              <a:t>NeurIPS</a:t>
            </a:r>
            <a:r>
              <a:rPr lang="en-IN" dirty="0"/>
              <a:t>, 2015.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Ronneberger</a:t>
            </a:r>
            <a:r>
              <a:rPr lang="en-IN" dirty="0"/>
              <a:t>, O., Fischer, P., and Brox, T., </a:t>
            </a:r>
            <a:r>
              <a:rPr lang="en-IN" b="1" dirty="0"/>
              <a:t>U-Net: Convolutional Networks for Biomedical Image Segmentation</a:t>
            </a:r>
            <a:r>
              <a:rPr lang="en-IN" dirty="0"/>
              <a:t>, </a:t>
            </a:r>
            <a:r>
              <a:rPr lang="en-IN" i="1" dirty="0"/>
              <a:t>MICCAI</a:t>
            </a:r>
            <a:r>
              <a:rPr lang="en-IN" dirty="0"/>
              <a:t>, 2015.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Chen, L.-C., </a:t>
            </a:r>
            <a:r>
              <a:rPr lang="en-IN" i="1" dirty="0"/>
              <a:t>et al.</a:t>
            </a:r>
            <a:r>
              <a:rPr lang="en-IN" dirty="0"/>
              <a:t>, </a:t>
            </a:r>
            <a:r>
              <a:rPr lang="en-IN" b="1" dirty="0"/>
              <a:t>Encoder–Decoder with </a:t>
            </a:r>
            <a:r>
              <a:rPr lang="en-IN" b="1" dirty="0" err="1"/>
              <a:t>Atrous</a:t>
            </a:r>
            <a:r>
              <a:rPr lang="en-IN" b="1" dirty="0"/>
              <a:t> Separable Convolution for Semantic Image Segmentation (DeepLabV3+)</a:t>
            </a:r>
            <a:r>
              <a:rPr lang="en-IN" dirty="0"/>
              <a:t>, </a:t>
            </a:r>
            <a:r>
              <a:rPr lang="en-IN" i="1" dirty="0"/>
              <a:t>ECCV</a:t>
            </a:r>
            <a:r>
              <a:rPr lang="en-IN" dirty="0"/>
              <a:t>, 2018.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Li, Y., </a:t>
            </a:r>
            <a:r>
              <a:rPr lang="en-IN" i="1" dirty="0"/>
              <a:t>et al.</a:t>
            </a:r>
            <a:r>
              <a:rPr lang="en-IN" dirty="0"/>
              <a:t>, </a:t>
            </a:r>
            <a:r>
              <a:rPr lang="en-IN" b="1" dirty="0"/>
              <a:t>RDD-YOLO: Road Damage Detection Algorithm Based on Improved YOLOv8</a:t>
            </a:r>
            <a:r>
              <a:rPr lang="en-IN" dirty="0"/>
              <a:t>, </a:t>
            </a:r>
            <a:r>
              <a:rPr lang="en-IN" i="1" dirty="0"/>
              <a:t>Applied Sciences</a:t>
            </a:r>
            <a:r>
              <a:rPr lang="en-IN" dirty="0"/>
              <a:t>, 2024.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Zeng, J., and Zhong, H., </a:t>
            </a:r>
            <a:r>
              <a:rPr lang="en-IN" b="1" dirty="0"/>
              <a:t>YOLOv8-PD: An Improved Road Damage Detection Algorithm Based on YOLOv8n</a:t>
            </a:r>
            <a:r>
              <a:rPr lang="en-IN" dirty="0"/>
              <a:t>, </a:t>
            </a:r>
            <a:r>
              <a:rPr lang="en-IN" i="1" dirty="0"/>
              <a:t>Scientific Reports</a:t>
            </a:r>
            <a:r>
              <a:rPr lang="en-IN" dirty="0"/>
              <a:t>, 2024.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Wang, W., </a:t>
            </a:r>
            <a:r>
              <a:rPr lang="en-IN" i="1" dirty="0"/>
              <a:t>et al.</a:t>
            </a:r>
            <a:r>
              <a:rPr lang="en-IN" dirty="0"/>
              <a:t>, </a:t>
            </a:r>
            <a:r>
              <a:rPr lang="en-IN" b="1" dirty="0"/>
              <a:t>YOLO-RD: A Road Damage Detection Method for Effective Pavement Maintenance</a:t>
            </a:r>
            <a:r>
              <a:rPr lang="en-IN" dirty="0"/>
              <a:t>, </a:t>
            </a:r>
            <a:r>
              <a:rPr lang="en-IN" i="1" dirty="0"/>
              <a:t>Sensors</a:t>
            </a:r>
            <a:r>
              <a:rPr lang="en-IN" dirty="0"/>
              <a:t>, 2025.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Zhang, S., </a:t>
            </a:r>
            <a:r>
              <a:rPr lang="en-IN" i="1" dirty="0"/>
              <a:t>et al.</a:t>
            </a:r>
            <a:r>
              <a:rPr lang="en-IN" dirty="0"/>
              <a:t>, </a:t>
            </a:r>
            <a:r>
              <a:rPr lang="en-IN" b="1" dirty="0"/>
              <a:t>OBC-YOLOv8: An Improved Road Damage Detection Model Based on YOLOv8</a:t>
            </a:r>
            <a:r>
              <a:rPr lang="en-IN" dirty="0"/>
              <a:t>, </a:t>
            </a:r>
            <a:r>
              <a:rPr lang="en-IN" i="1" dirty="0" err="1"/>
              <a:t>PeerJ</a:t>
            </a:r>
            <a:r>
              <a:rPr lang="en-IN" i="1" dirty="0"/>
              <a:t> Computer Science</a:t>
            </a:r>
            <a:r>
              <a:rPr lang="en-IN" dirty="0"/>
              <a:t>, 2025.</a:t>
            </a:r>
          </a:p>
          <a:p>
            <a:pPr algn="ctr"/>
            <a:r>
              <a:rPr lang="en-IN" sz="1200" i="1" dirty="0"/>
              <a:t>Additional references used for the literature review are provided in the accompanying Summary Findings document.</a:t>
            </a:r>
          </a:p>
        </p:txBody>
      </p:sp>
    </p:spTree>
    <p:extLst>
      <p:ext uri="{BB962C8B-B14F-4D97-AF65-F5344CB8AC3E}">
        <p14:creationId xmlns:p14="http://schemas.microsoft.com/office/powerpoint/2010/main" val="2106703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741330-0B74-5F82-56B9-A1A548BF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0689-3588-E14A-7CDB-9DE7391B4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12" y="358247"/>
            <a:ext cx="8279375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COMPLETE DETECTION PERFORMANCE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B033D5-3A59-CE3D-42FD-D89E8F10F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358245"/>
              </p:ext>
            </p:extLst>
          </p:nvPr>
        </p:nvGraphicFramePr>
        <p:xfrm>
          <a:off x="235975" y="1229853"/>
          <a:ext cx="8672050" cy="3302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410">
                  <a:extLst>
                    <a:ext uri="{9D8B030D-6E8A-4147-A177-3AD203B41FA5}">
                      <a16:colId xmlns:a16="http://schemas.microsoft.com/office/drawing/2014/main" val="522683228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786829793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496946311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1388764040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668934592"/>
                    </a:ext>
                  </a:extLst>
                </a:gridCol>
              </a:tblGrid>
              <a:tr h="413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Model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Precision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Recall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mAP@50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mAP@50-95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324772"/>
                  </a:ext>
                </a:extLst>
              </a:tr>
              <a:tr h="4353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YOLOv8n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0.579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0.516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0.539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0.285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211550"/>
                  </a:ext>
                </a:extLst>
              </a:tr>
              <a:tr h="400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YOLOv8s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0.626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0.553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0.592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0.317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96110"/>
                  </a:ext>
                </a:extLst>
              </a:tr>
              <a:tr h="4000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YOLOv8m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0.677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0.590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0.633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0.344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353006"/>
                  </a:ext>
                </a:extLst>
              </a:tr>
              <a:tr h="41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YOLO11n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0.593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0.514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0.544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0.287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538930"/>
                  </a:ext>
                </a:extLst>
              </a:tr>
              <a:tr h="41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YOLO11s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0.613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0.540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0.575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0.309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692357"/>
                  </a:ext>
                </a:extLst>
              </a:tr>
              <a:tr h="41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YOLO11m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0.631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0.546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0.587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0.314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387356"/>
                  </a:ext>
                </a:extLst>
              </a:tr>
              <a:tr h="41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Faster R-CNN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0.427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0.536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0.253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454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76C4FA1-5004-1805-3851-FF1971C3CD5F}"/>
              </a:ext>
            </a:extLst>
          </p:cNvPr>
          <p:cNvSpPr txBox="1"/>
          <p:nvPr/>
        </p:nvSpPr>
        <p:spPr>
          <a:xfrm>
            <a:off x="235973" y="5166482"/>
            <a:ext cx="8475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Observation:</a:t>
            </a:r>
            <a:r>
              <a:rPr lang="en-IN" dirty="0"/>
              <a:t> YOLOv8m achieved the highest overall detection performance across all evaluated models, obtaining the best Precision (0.677), Recall (0.590), mAP@50 (0.633), and mAP@50-95 (0.344).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62AB4-A19F-D299-32DC-0D67F2A40EA8}"/>
              </a:ext>
            </a:extLst>
          </p:cNvPr>
          <p:cNvSpPr txBox="1"/>
          <p:nvPr/>
        </p:nvSpPr>
        <p:spPr>
          <a:xfrm>
            <a:off x="235973" y="4541172"/>
            <a:ext cx="867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Precision is marked N/A because it was not computed during the Faster R-CNN baseline evaluation; the reported Recall and </a:t>
            </a:r>
            <a:r>
              <a:rPr lang="en-US" sz="1200" i="1" dirty="0" err="1"/>
              <a:t>mAP</a:t>
            </a:r>
            <a:r>
              <a:rPr lang="en-US" sz="1200" i="1" dirty="0"/>
              <a:t> values are from the COCO evaluator.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5846161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F80F88-85C8-A9BF-BBC4-23ACE5DC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B3E90-020E-20BB-EC78-8AE3733D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6" y="92776"/>
            <a:ext cx="8279375" cy="720723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0070C0"/>
                </a:solidFill>
              </a:rPr>
              <a:t>COMPLETE SAHI PERFORMANCE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3E4929-19D8-7F43-2AB8-B15301FF3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312517"/>
              </p:ext>
            </p:extLst>
          </p:nvPr>
        </p:nvGraphicFramePr>
        <p:xfrm>
          <a:off x="235977" y="813499"/>
          <a:ext cx="8672050" cy="2600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4410">
                  <a:extLst>
                    <a:ext uri="{9D8B030D-6E8A-4147-A177-3AD203B41FA5}">
                      <a16:colId xmlns:a16="http://schemas.microsoft.com/office/drawing/2014/main" val="522683228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786829793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496946311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1388764040"/>
                    </a:ext>
                  </a:extLst>
                </a:gridCol>
                <a:gridCol w="1734410">
                  <a:extLst>
                    <a:ext uri="{9D8B030D-6E8A-4147-A177-3AD203B41FA5}">
                      <a16:colId xmlns:a16="http://schemas.microsoft.com/office/drawing/2014/main" val="3668934592"/>
                    </a:ext>
                  </a:extLst>
                </a:gridCol>
              </a:tblGrid>
              <a:tr h="369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mAP@50-95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324772"/>
                  </a:ext>
                </a:extLst>
              </a:tr>
              <a:tr h="38946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YOLOv8n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0.380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0.285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0.380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0.186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0211550"/>
                  </a:ext>
                </a:extLst>
              </a:tr>
              <a:tr h="357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YOLOv8s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0.441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0.311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0.441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0.218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596110"/>
                  </a:ext>
                </a:extLst>
              </a:tr>
              <a:tr h="357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YOLOv8m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0.484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0.347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0.484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0.247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353006"/>
                  </a:ext>
                </a:extLst>
              </a:tr>
              <a:tr h="369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YOLO11n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0.380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0.277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0.380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0.184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6538930"/>
                  </a:ext>
                </a:extLst>
              </a:tr>
              <a:tr h="369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YOLO11s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0.207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692357"/>
                  </a:ext>
                </a:extLst>
              </a:tr>
              <a:tr h="369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YOLO11m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0.412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0.412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0.203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3873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A30DE26-B0C0-D36C-450D-DA4A515C4423}"/>
              </a:ext>
            </a:extLst>
          </p:cNvPr>
          <p:cNvSpPr txBox="1"/>
          <p:nvPr/>
        </p:nvSpPr>
        <p:spPr>
          <a:xfrm>
            <a:off x="235975" y="5380672"/>
            <a:ext cx="84754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SAHI improved small-object detection across all YOLO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Additional detections came with increased false positives.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YOLOv8m remained the best-performing detector after applying SAHI.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Default configuration (512×512, confidence = 0.25) provided the best trade-off and was used for all remaining experiments.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203AE7-6CEC-F61A-D3B1-09AEB28BC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642155"/>
              </p:ext>
            </p:extLst>
          </p:nvPr>
        </p:nvGraphicFramePr>
        <p:xfrm>
          <a:off x="235975" y="3838319"/>
          <a:ext cx="86720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342">
                  <a:extLst>
                    <a:ext uri="{9D8B030D-6E8A-4147-A177-3AD203B41FA5}">
                      <a16:colId xmlns:a16="http://schemas.microsoft.com/office/drawing/2014/main" val="1584576393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2168848575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2557249231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2174196273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1621596168"/>
                    </a:ext>
                  </a:extLst>
                </a:gridCol>
                <a:gridCol w="1445342">
                  <a:extLst>
                    <a:ext uri="{9D8B030D-6E8A-4147-A177-3AD203B41FA5}">
                      <a16:colId xmlns:a16="http://schemas.microsoft.com/office/drawing/2014/main" val="3393619220"/>
                    </a:ext>
                  </a:extLst>
                </a:gridCol>
              </a:tblGrid>
              <a:tr h="3186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Slice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mAP@50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mAP@50-95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932380"/>
                  </a:ext>
                </a:extLst>
              </a:tr>
              <a:tr h="318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512×512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0.25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0.412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0.301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0.412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0.203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7723243"/>
                  </a:ext>
                </a:extLst>
              </a:tr>
              <a:tr h="3186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512×512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0.307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0.218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0.307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0.171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39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640×640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0.299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0.208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8812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0266E26-36E9-DBAF-18B3-E4048E8124B5}"/>
              </a:ext>
            </a:extLst>
          </p:cNvPr>
          <p:cNvSpPr txBox="1"/>
          <p:nvPr/>
        </p:nvSpPr>
        <p:spPr>
          <a:xfrm>
            <a:off x="235973" y="3395407"/>
            <a:ext cx="8672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i="1" dirty="0"/>
              <a:t>The top table presents the complete SAHI evaluation across all YOLO models, while the bottom table shows the YOLO11m ablation study used to determine the optimal SAHI configuration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41802744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462</TotalTime>
  <Words>1677</Words>
  <Application>Microsoft Office PowerPoint</Application>
  <PresentationFormat>On-screen Show (4:3)</PresentationFormat>
  <Paragraphs>399</Paragraphs>
  <Slides>17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MS Mincho</vt:lpstr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OUTLINE OF THE PRESENTATION</vt:lpstr>
      <vt:lpstr>PROJECT OVERVIEW</vt:lpstr>
      <vt:lpstr>PROJECT TIMELINE</vt:lpstr>
      <vt:lpstr>PROBLEM IDENTIFICATION</vt:lpstr>
      <vt:lpstr>METHODOLOGY </vt:lpstr>
      <vt:lpstr>DETECTION EXPERIMENTS </vt:lpstr>
      <vt:lpstr>SAHI EVALUATION</vt:lpstr>
      <vt:lpstr>EXPLORATORY STUDY: FASTER R-CNN + SAHI</vt:lpstr>
      <vt:lpstr>SEGMENTATION EXPERIMENTS </vt:lpstr>
      <vt:lpstr>DETECTION LITERATURE COMPARISON</vt:lpstr>
      <vt:lpstr>SEGMENTATION LITERATURE COMPARISON</vt:lpstr>
      <vt:lpstr>CONCLUSIONS</vt:lpstr>
      <vt:lpstr>LEARNING OUTCOMES</vt:lpstr>
      <vt:lpstr>REFERENCES</vt:lpstr>
      <vt:lpstr>COMPLETE DETECTION PERFORMANCE</vt:lpstr>
      <vt:lpstr>COMPLETE SAHI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Anubhav Agrawal</dc:creator>
  <cp:lastModifiedBy>Aadeesh Srivastava</cp:lastModifiedBy>
  <cp:revision>19</cp:revision>
  <dcterms:created xsi:type="dcterms:W3CDTF">2019-07-17T06:46:17Z</dcterms:created>
  <dcterms:modified xsi:type="dcterms:W3CDTF">2026-07-09T17:29:10Z</dcterms:modified>
</cp:coreProperties>
</file>